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67" r:id="rId4"/>
    <p:sldId id="268" r:id="rId5"/>
    <p:sldId id="257" r:id="rId6"/>
    <p:sldId id="273" r:id="rId7"/>
    <p:sldId id="274" r:id="rId8"/>
    <p:sldId id="272" r:id="rId9"/>
    <p:sldId id="258" r:id="rId10"/>
    <p:sldId id="259" r:id="rId11"/>
    <p:sldId id="260" r:id="rId12"/>
    <p:sldId id="261" r:id="rId13"/>
    <p:sldId id="262" r:id="rId14"/>
    <p:sldId id="263" r:id="rId15"/>
    <p:sldId id="270" r:id="rId16"/>
    <p:sldId id="271" r:id="rId17"/>
    <p:sldId id="264" r:id="rId18"/>
    <p:sldId id="265" r:id="rId19"/>
    <p:sldId id="275" r:id="rId20"/>
    <p:sldId id="26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74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68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19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73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4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1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16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180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83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82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7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28.png"/><Relationship Id="rId3" Type="http://schemas.openxmlformats.org/officeDocument/2006/relationships/image" Target="../media/image45.png"/><Relationship Id="rId21" Type="http://schemas.openxmlformats.org/officeDocument/2006/relationships/image" Target="../media/image83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0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6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5.png"/><Relationship Id="rId10" Type="http://schemas.openxmlformats.org/officeDocument/2006/relationships/image" Target="../media/image74.png"/><Relationship Id="rId19" Type="http://schemas.openxmlformats.org/officeDocument/2006/relationships/image" Target="../media/image82.png"/><Relationship Id="rId4" Type="http://schemas.openxmlformats.org/officeDocument/2006/relationships/image" Target="../media/image7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4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" Type="http://schemas.openxmlformats.org/officeDocument/2006/relationships/image" Target="../media/image45.png"/><Relationship Id="rId21" Type="http://schemas.openxmlformats.org/officeDocument/2006/relationships/image" Target="../media/image112.png"/><Relationship Id="rId7" Type="http://schemas.openxmlformats.org/officeDocument/2006/relationships/image" Target="../media/image99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5" Type="http://schemas.openxmlformats.org/officeDocument/2006/relationships/image" Target="../media/image97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10" Type="http://schemas.openxmlformats.org/officeDocument/2006/relationships/image" Target="../media/image92.png"/><Relationship Id="rId19" Type="http://schemas.openxmlformats.org/officeDocument/2006/relationships/image" Target="../media/image110.png"/><Relationship Id="rId4" Type="http://schemas.openxmlformats.org/officeDocument/2006/relationships/image" Target="../media/image7.png"/><Relationship Id="rId9" Type="http://schemas.openxmlformats.org/officeDocument/2006/relationships/image" Target="../media/image101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139.png"/><Relationship Id="rId3" Type="http://schemas.openxmlformats.org/officeDocument/2006/relationships/image" Target="../media/image45.png"/><Relationship Id="rId21" Type="http://schemas.openxmlformats.org/officeDocument/2006/relationships/image" Target="../media/image134.png"/><Relationship Id="rId7" Type="http://schemas.openxmlformats.org/officeDocument/2006/relationships/image" Target="../media/image19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5" Type="http://schemas.openxmlformats.org/officeDocument/2006/relationships/image" Target="../media/image119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4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4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18" Type="http://schemas.openxmlformats.org/officeDocument/2006/relationships/image" Target="../media/image154.png"/><Relationship Id="rId3" Type="http://schemas.openxmlformats.org/officeDocument/2006/relationships/image" Target="../media/image45.png"/><Relationship Id="rId7" Type="http://schemas.openxmlformats.org/officeDocument/2006/relationships/image" Target="../media/image26.png"/><Relationship Id="rId12" Type="http://schemas.openxmlformats.org/officeDocument/2006/relationships/image" Target="../media/image149.png"/><Relationship Id="rId17" Type="http://schemas.openxmlformats.org/officeDocument/2006/relationships/image" Target="../media/image15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8.png"/><Relationship Id="rId5" Type="http://schemas.openxmlformats.org/officeDocument/2006/relationships/image" Target="../media/image143.png"/><Relationship Id="rId15" Type="http://schemas.openxmlformats.org/officeDocument/2006/relationships/image" Target="../media/image151.png"/><Relationship Id="rId10" Type="http://schemas.openxmlformats.org/officeDocument/2006/relationships/image" Target="../media/image147.png"/><Relationship Id="rId4" Type="http://schemas.openxmlformats.org/officeDocument/2006/relationships/image" Target="../media/image7.png"/><Relationship Id="rId9" Type="http://schemas.openxmlformats.org/officeDocument/2006/relationships/image" Target="../media/image146.png"/><Relationship Id="rId1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5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7.png"/><Relationship Id="rId9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evPericoplus/anh_ansible.gi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github.com/DevPericoplus/fmanagement.git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github.com/DevPericoplus/anewhope.git" TargetMode="External"/><Relationship Id="rId4" Type="http://schemas.openxmlformats.org/officeDocument/2006/relationships/image" Target="../media/image2.jpg"/><Relationship Id="rId9" Type="http://schemas.openxmlformats.org/officeDocument/2006/relationships/hyperlink" Target="https://github.com/DevPericoplus/anh_ansible_environments.git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86.png"/><Relationship Id="rId3" Type="http://schemas.openxmlformats.org/officeDocument/2006/relationships/image" Target="../media/image164.png"/><Relationship Id="rId7" Type="http://schemas.openxmlformats.org/officeDocument/2006/relationships/image" Target="../media/image146.png"/><Relationship Id="rId12" Type="http://schemas.openxmlformats.org/officeDocument/2006/relationships/image" Target="../media/image170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69.png"/><Relationship Id="rId5" Type="http://schemas.openxmlformats.org/officeDocument/2006/relationships/image" Target="../media/image165.png"/><Relationship Id="rId15" Type="http://schemas.openxmlformats.org/officeDocument/2006/relationships/image" Target="../media/image73.png"/><Relationship Id="rId10" Type="http://schemas.openxmlformats.org/officeDocument/2006/relationships/image" Target="../media/image168.png"/><Relationship Id="rId4" Type="http://schemas.openxmlformats.org/officeDocument/2006/relationships/image" Target="../media/image7.png"/><Relationship Id="rId9" Type="http://schemas.openxmlformats.org/officeDocument/2006/relationships/image" Target="../media/image167.png"/><Relationship Id="rId14" Type="http://schemas.openxmlformats.org/officeDocument/2006/relationships/image" Target="../media/image1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103e5438be3f279b98b7ef39c3abd5d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025" y="244418"/>
            <a:ext cx="17811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010025"/>
            <a:ext cx="5486400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258425" y="304800"/>
            <a:ext cx="213741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4305299" y="2295525"/>
            <a:ext cx="35909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getmyllm.com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2898475" y="3019425"/>
            <a:ext cx="6573329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E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Creación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LLM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erriquecidos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conocimiento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2898474" y="4257675"/>
            <a:ext cx="67199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s-E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IA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orientados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proporcionar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personalizadas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sus 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necesidades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5419725" y="63627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de Enero de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103e5438be3f279b98b7ef39c3abd5d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025" y="244418"/>
            <a:ext cx="17811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010025"/>
            <a:ext cx="5486400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258425" y="304800"/>
            <a:ext cx="213741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3838575" y="2295525"/>
            <a:ext cx="41624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Getmyllm.com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2147977" y="3228975"/>
            <a:ext cx="7958048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E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orquestadora de soluciones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1759789" y="4257675"/>
            <a:ext cx="91957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s-E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Interfaces orientados a atender las  necesidades de los proyectos.</a:t>
            </a:r>
          </a:p>
          <a:p>
            <a:pPr marL="0" indent="0" algn="ctr">
              <a:lnSpc>
                <a:spcPts val="2400"/>
              </a:lnSpc>
              <a:buNone/>
            </a:pP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orientados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optimizar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r>
              <a:rPr lang="en-US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5419725" y="63627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de Enero de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2589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103e5438be3f279b98b7ef39c3abd5d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025" y="244418"/>
            <a:ext cx="17811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010025"/>
            <a:ext cx="5486400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258425" y="304800"/>
            <a:ext cx="213741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163902" y="172529"/>
            <a:ext cx="3010619" cy="582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mission: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2950235" y="304801"/>
            <a:ext cx="71557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Adaptar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necesidades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163902" y="927341"/>
            <a:ext cx="11887199" cy="5175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la </a:t>
            </a:r>
            <a:r>
              <a:rPr lang="es-E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demandada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asesoramientos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gestion documental con IA.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especialistas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gestion  documental.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 con IA de la Gestion documental para optimizer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Aplicacion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consensuada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mejoras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 con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proceso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versionado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Posibilidad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trabajar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diferentes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versions con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variaciones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contenido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Analisis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la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eleccion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del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base major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adaptado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para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cada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caso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necesidad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Propuesta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base para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cada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necesitad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5419725" y="63627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de Enero de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3272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103e5438be3f279b98b7ef39c3abd5d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025" y="244418"/>
            <a:ext cx="17811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010025"/>
            <a:ext cx="5486400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258425" y="304800"/>
            <a:ext cx="213741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163902" y="172529"/>
            <a:ext cx="3010619" cy="582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mission: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2950235" y="304801"/>
            <a:ext cx="71557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Adaptar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necesidades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163902" y="927341"/>
            <a:ext cx="11887199" cy="5175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Sistema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interno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Iteración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continuada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procesos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entrenamiento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Refinamiento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entrenamientos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Mejoras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seguridad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, precision,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rendimiento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,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efectividad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evaluaciones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Calidad.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Uso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sistemas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evaluacion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resultados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Planes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adaptados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actualizacion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contenido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posibles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evoluciones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generados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Gestion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evolutivos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proyectos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Asesoramiento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implementacion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la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infraestructura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explotacion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local o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nube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privada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Soluciones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a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medida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Planes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mantenimiento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soporte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personalizado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creados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Garantia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soporte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creacion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modelos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1" name="Text 4"/>
          <p:cNvSpPr/>
          <p:nvPr/>
        </p:nvSpPr>
        <p:spPr>
          <a:xfrm>
            <a:off x="5419725" y="63627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 de </a:t>
            </a:r>
            <a:r>
              <a:rPr lang="en-US" sz="1050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febreo</a:t>
            </a: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5334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Topologia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</a:t>
            </a:r>
            <a:endParaRPr lang="en-US" sz="2250" dirty="0"/>
          </a:p>
        </p:txBody>
      </p:sp>
      <p:pic>
        <p:nvPicPr>
          <p:cNvPr id="55" name="Imagen 54" descr="Diagrama&#10;&#10;El contenido generado por IA puede ser incorrecto.">
            <a:extLst>
              <a:ext uri="{FF2B5EF4-FFF2-40B4-BE49-F238E27FC236}">
                <a16:creationId xmlns:a16="http://schemas.microsoft.com/office/drawing/2014/main" id="{6F8E2D62-E6C0-7FDE-273C-A729E1513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767" y="981282"/>
            <a:ext cx="8092158" cy="5581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Interpretación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esquemas</a:t>
            </a:r>
            <a:endParaRPr lang="en-US" sz="2250" dirty="0"/>
          </a:p>
        </p:txBody>
      </p:sp>
      <p:pic>
        <p:nvPicPr>
          <p:cNvPr id="4" name="Arquitectura de Flujos">
            <a:hlinkClick r:id="" action="ppaction://media"/>
            <a:extLst>
              <a:ext uri="{FF2B5EF4-FFF2-40B4-BE49-F238E27FC236}">
                <a16:creationId xmlns:a16="http://schemas.microsoft.com/office/drawing/2014/main" id="{DF74AE9C-1A11-A69D-2899-50C80C94C9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74938" y="1019175"/>
            <a:ext cx="9602612" cy="540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9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Disposición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instancia</a:t>
            </a:r>
            <a:endParaRPr lang="en-US" sz="2250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DD6C5EC-1022-AD28-DFCE-555DDE9D1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977" y="780574"/>
            <a:ext cx="8406498" cy="58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0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90600"/>
            <a:ext cx="1158240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430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125" y="1562100"/>
            <a:ext cx="3237963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425" y="1714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6501" y="1562100"/>
            <a:ext cx="3002965" cy="876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0801" y="17145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0277" y="1562100"/>
            <a:ext cx="2708523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4577" y="1714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857500"/>
            <a:ext cx="11582400" cy="1600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0099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875" y="3429000"/>
            <a:ext cx="2417981" cy="876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175" y="3581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9776" y="3429000"/>
            <a:ext cx="2594627" cy="876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5895" y="35814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53404" y="3429000"/>
            <a:ext cx="2429616" cy="876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7704" y="3581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724400"/>
            <a:ext cx="11582400" cy="1600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8768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225" y="5295900"/>
            <a:ext cx="523875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1525" y="54483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96025" y="5295900"/>
            <a:ext cx="5238750" cy="876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10325" y="54483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57725" y="6477000"/>
            <a:ext cx="952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6477000"/>
            <a:ext cx="9525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del Sistema - Visión General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800099" y="1162050"/>
            <a:ext cx="28219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727024" y="1676400"/>
            <a:ext cx="24761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proxy Inverso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498425" y="1943100"/>
            <a:ext cx="3105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Distribuye peticiones, seguridad, balanceo de carga y terminación SSL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4038451" y="1676400"/>
            <a:ext cx="1577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de Usuarios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3790801" y="1943100"/>
            <a:ext cx="288866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principal para interacciones con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Proyecto.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7083177" y="1676400"/>
            <a:ext cx="9829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Backoffice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6854577" y="1943100"/>
            <a:ext cx="25942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administrativa para gestión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monitorización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internos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71525" y="3028950"/>
            <a:ext cx="1874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1012775" y="3543300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Broker (8_service)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784175" y="3810000"/>
            <a:ext cx="222142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Gestor de colas de mensajes, orquesta la comunicación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3602595" y="3543300"/>
            <a:ext cx="1611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Core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3335895" y="3810000"/>
            <a:ext cx="2445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Lógica de negocio, procesa peticiones y coordina operaciones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9596303" y="3543300"/>
            <a:ext cx="19890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relaccional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9367704" y="3810000"/>
            <a:ext cx="22176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relacional para datos estructurados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800100" y="4895850"/>
            <a:ext cx="1623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Trainer Server</a:t>
            </a:r>
            <a:endParaRPr lang="en-US" sz="1500" dirty="0"/>
          </a:p>
        </p:txBody>
      </p:sp>
      <p:sp>
        <p:nvSpPr>
          <p:cNvPr id="44" name="Text 16"/>
          <p:cNvSpPr/>
          <p:nvPr/>
        </p:nvSpPr>
        <p:spPr>
          <a:xfrm>
            <a:off x="1038225" y="5410200"/>
            <a:ext cx="3451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4_Trainer: Servicio de Entrenamiento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771525" y="5676900"/>
            <a:ext cx="5010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 datos y genera nuevos pesos del modelo o actualizaciones incrementales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6619875" y="5410200"/>
            <a:ext cx="14744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 Database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410325" y="5676900"/>
            <a:ext cx="5010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vectorial optimizada para almacenar embeddings semánticos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4791075" y="6477000"/>
            <a:ext cx="17487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Actualización de Modelos</a:t>
            </a:r>
            <a:endParaRPr lang="en-US" sz="900" dirty="0"/>
          </a:p>
        </p:txBody>
      </p:sp>
      <p:sp>
        <p:nvSpPr>
          <p:cNvPr id="49" name="Text 21"/>
          <p:cNvSpPr/>
          <p:nvPr/>
        </p:nvSpPr>
        <p:spPr>
          <a:xfrm>
            <a:off x="6534150" y="6477000"/>
            <a:ext cx="12001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Inferencia Rápida</a:t>
            </a:r>
            <a:endParaRPr lang="en-US" sz="900" dirty="0"/>
          </a:p>
        </p:txBody>
      </p:sp>
      <p:pic>
        <p:nvPicPr>
          <p:cNvPr id="50" name="Image 14" descr="preencoded.png">
            <a:extLst>
              <a:ext uri="{FF2B5EF4-FFF2-40B4-BE49-F238E27FC236}">
                <a16:creationId xmlns:a16="http://schemas.microsoft.com/office/drawing/2014/main" id="{B3685BC4-0717-738D-B674-551514BA284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847" y="3448230"/>
            <a:ext cx="2594627" cy="876300"/>
          </a:xfrm>
          <a:prstGeom prst="rect">
            <a:avLst/>
          </a:prstGeom>
        </p:spPr>
      </p:pic>
      <p:pic>
        <p:nvPicPr>
          <p:cNvPr id="51" name="Image 15" descr="preencoded.png">
            <a:extLst>
              <a:ext uri="{FF2B5EF4-FFF2-40B4-BE49-F238E27FC236}">
                <a16:creationId xmlns:a16="http://schemas.microsoft.com/office/drawing/2014/main" id="{37BF6A6D-5CCD-5267-DED0-DC7E0A4EF9A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8966" y="3600630"/>
            <a:ext cx="190500" cy="152400"/>
          </a:xfrm>
          <a:prstGeom prst="rect">
            <a:avLst/>
          </a:prstGeom>
        </p:spPr>
      </p:pic>
      <p:sp>
        <p:nvSpPr>
          <p:cNvPr id="52" name="Text 11">
            <a:extLst>
              <a:ext uri="{FF2B5EF4-FFF2-40B4-BE49-F238E27FC236}">
                <a16:creationId xmlns:a16="http://schemas.microsoft.com/office/drawing/2014/main" id="{15DAE302-7CF1-EA96-482D-D34D49265FEA}"/>
              </a:ext>
            </a:extLst>
          </p:cNvPr>
          <p:cNvSpPr/>
          <p:nvPr/>
        </p:nvSpPr>
        <p:spPr>
          <a:xfrm>
            <a:off x="6755666" y="3562530"/>
            <a:ext cx="19725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C84C1614-04B7-C7F0-1749-E916B107BEDF}"/>
              </a:ext>
            </a:extLst>
          </p:cNvPr>
          <p:cNvSpPr/>
          <p:nvPr/>
        </p:nvSpPr>
        <p:spPr>
          <a:xfrm>
            <a:off x="6488966" y="3829230"/>
            <a:ext cx="2445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Seguro 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gestion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almecenmiento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A4CFDB12-EB0B-47F5-3B21-9BDA90129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650" y="1562100"/>
            <a:ext cx="2270225" cy="876300"/>
          </a:xfrm>
          <a:prstGeom prst="rect">
            <a:avLst/>
          </a:prstGeom>
        </p:spPr>
      </p:pic>
      <p:pic>
        <p:nvPicPr>
          <p:cNvPr id="55" name="Image 5" descr="preencoded.png">
            <a:extLst>
              <a:ext uri="{FF2B5EF4-FFF2-40B4-BE49-F238E27FC236}">
                <a16:creationId xmlns:a16="http://schemas.microsoft.com/office/drawing/2014/main" id="{5D6E52F4-D8C7-5B7F-D0F6-E0D6EECAC1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950" y="1714500"/>
            <a:ext cx="152400" cy="152400"/>
          </a:xfrm>
          <a:prstGeom prst="rect">
            <a:avLst/>
          </a:prstGeom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7B52476A-4C42-3021-6A19-BE9DAE2199E8}"/>
              </a:ext>
            </a:extLst>
          </p:cNvPr>
          <p:cNvSpPr/>
          <p:nvPr/>
        </p:nvSpPr>
        <p:spPr>
          <a:xfrm>
            <a:off x="9880549" y="1676400"/>
            <a:ext cx="24761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</a:t>
            </a:r>
            <a:endParaRPr lang="en-US" sz="12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3808B1-CFB4-7B72-ABD8-2F2A4731D593}"/>
              </a:ext>
            </a:extLst>
          </p:cNvPr>
          <p:cNvSpPr/>
          <p:nvPr/>
        </p:nvSpPr>
        <p:spPr>
          <a:xfrm>
            <a:off x="9651950" y="1943100"/>
            <a:ext cx="20310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Sesiones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compartidas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servidores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web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9184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380" y="222885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90" y="3416090"/>
            <a:ext cx="673519" cy="67351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90" y="3987590"/>
            <a:ext cx="673519" cy="67351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161" y="1136600"/>
            <a:ext cx="9265890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1661" y="136520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1161" y="2914501"/>
            <a:ext cx="926589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1661" y="3143101"/>
            <a:ext cx="39052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1161" y="4692402"/>
            <a:ext cx="926589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1661" y="4921002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33663" y="65722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05262" y="65722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72163" y="65722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4737" y="6572250"/>
            <a:ext cx="1905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Server - Capa de Presentación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302835" y="2800350"/>
            <a:ext cx="23202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Peticiones Externas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302835" y="3067050"/>
            <a:ext cx="2320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y sistemas externos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3306961" y="1327100"/>
            <a:ext cx="8389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Nginx: Proxy Inverso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3306961" y="1670000"/>
            <a:ext cx="8389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Actúa como un proxy inverso, distribuyendo las peticiones de los usuarios a los servicios adecuados. Es fundamental para la seguridad, el balanceo de carga y la terminación SSL.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3497461" y="2241500"/>
            <a:ext cx="2745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6319391" y="2241500"/>
            <a:ext cx="2745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Balanceo de Carga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9141321" y="2241500"/>
            <a:ext cx="2745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Terminación SSL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3354586" y="3105001"/>
            <a:ext cx="83419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de Usuarios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3354586" y="3447901"/>
            <a:ext cx="834196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principal para los usuarios finales, donde interactúan con las capacidades del LLM. Permite la visualización de resultados y la gestión de sesiones.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3545086" y="4019401"/>
            <a:ext cx="32757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Interacción con LLM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6351091" y="4019401"/>
            <a:ext cx="32757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de Resultados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9157097" y="4019401"/>
            <a:ext cx="32759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Sesiones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3306961" y="4882902"/>
            <a:ext cx="8389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Backoffice</a:t>
            </a:r>
            <a:endParaRPr lang="en-US" sz="1500" dirty="0"/>
          </a:p>
        </p:txBody>
      </p:sp>
      <p:sp>
        <p:nvSpPr>
          <p:cNvPr id="31" name="Text 14"/>
          <p:cNvSpPr/>
          <p:nvPr/>
        </p:nvSpPr>
        <p:spPr>
          <a:xfrm>
            <a:off x="3306961" y="5225802"/>
            <a:ext cx="8389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administrativa para la gestión del sistema, monitorización y configuración. Proporciona herramientas para el control de usuarios, logs y estado del sistema.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3497461" y="5797302"/>
            <a:ext cx="329487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Usuarios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6319391" y="5797302"/>
            <a:ext cx="2745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Monitorización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9141321" y="5797302"/>
            <a:ext cx="2745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Configuración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2862263" y="6553200"/>
            <a:ext cx="822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4233863" y="6553200"/>
            <a:ext cx="1417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 Rendimiento</a:t>
            </a:r>
            <a:endParaRPr lang="en-US" sz="1050" dirty="0"/>
          </a:p>
        </p:txBody>
      </p:sp>
      <p:sp>
        <p:nvSpPr>
          <p:cNvPr id="37" name="Text 20"/>
          <p:cNvSpPr/>
          <p:nvPr/>
        </p:nvSpPr>
        <p:spPr>
          <a:xfrm>
            <a:off x="6100763" y="6553200"/>
            <a:ext cx="1040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</a:t>
            </a:r>
            <a:endParaRPr lang="en-US" sz="1050" dirty="0"/>
          </a:p>
        </p:txBody>
      </p:sp>
      <p:sp>
        <p:nvSpPr>
          <p:cNvPr id="38" name="Text 21"/>
          <p:cNvSpPr/>
          <p:nvPr/>
        </p:nvSpPr>
        <p:spPr>
          <a:xfrm>
            <a:off x="7691438" y="6553200"/>
            <a:ext cx="2240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Facilidad de Mantenimiento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23812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5908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2291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150" y="914400"/>
            <a:ext cx="7492901" cy="1600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6550" y="1085850"/>
            <a:ext cx="3429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2750" y="11620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550" y="2133600"/>
            <a:ext cx="46672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475" y="2133600"/>
            <a:ext cx="4095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5250" y="2133600"/>
            <a:ext cx="619125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4150" y="2533650"/>
            <a:ext cx="76200" cy="76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4150" y="2533650"/>
            <a:ext cx="76200" cy="76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4150" y="2533650"/>
            <a:ext cx="76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94150" y="2590800"/>
            <a:ext cx="7492901" cy="1600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6550" y="2762250"/>
            <a:ext cx="390525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22750" y="283845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550" y="3810000"/>
            <a:ext cx="103822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60975" y="3810000"/>
            <a:ext cx="93345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70625" y="3810000"/>
            <a:ext cx="695325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94150" y="4210050"/>
            <a:ext cx="76200" cy="76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94150" y="4210050"/>
            <a:ext cx="76200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94150" y="42100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94150" y="4267200"/>
            <a:ext cx="7492901" cy="1600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46550" y="4438650"/>
            <a:ext cx="323850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22750" y="4514850"/>
            <a:ext cx="17145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46550" y="5486400"/>
            <a:ext cx="381000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03750" y="5486400"/>
            <a:ext cx="97155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51500" y="5486400"/>
            <a:ext cx="657225" cy="2286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Server - Lógica de Negocio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657225" y="914400"/>
            <a:ext cx="4358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 Capas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304800" y="1257300"/>
            <a:ext cx="363215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capa de BackEnd Server actúa como el corazón del sistema, procesando peticiones y gestionando información. Su diseño en tres componentes clave permite separación clara de responsabilidades.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609600" y="2552700"/>
            <a:ext cx="3632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Interacciones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304800" y="2895600"/>
            <a:ext cx="363215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Broker orquesta comunicación entre servicios, el Core procesa peticiones y coordina operaciones, mientras MariaDB proporciona almacenamiento estructurado para datos del sistema.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609600" y="4191000"/>
            <a:ext cx="4358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Clave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323850" y="4533900"/>
            <a:ext cx="4587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Separación clara entre interfaz y lógica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323850" y="4800600"/>
            <a:ext cx="4587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de múltiples peticiones simultáneas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323850" y="5067300"/>
            <a:ext cx="4587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colas para tareas asíncronas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323850" y="5334000"/>
            <a:ext cx="3822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relacional para consultas complejas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5003750" y="1066800"/>
            <a:ext cx="2274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Broker (8_service)</a:t>
            </a:r>
            <a:endParaRPr lang="en-US" sz="1500" dirty="0"/>
          </a:p>
        </p:txBody>
      </p:sp>
      <p:sp>
        <p:nvSpPr>
          <p:cNvPr id="42" name="Text 11"/>
          <p:cNvSpPr/>
          <p:nvPr/>
        </p:nvSpPr>
        <p:spPr>
          <a:xfrm>
            <a:off x="5003750" y="1333500"/>
            <a:ext cx="2274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Gestor de Colas de Mensajes</a:t>
            </a:r>
            <a:endParaRPr lang="en-US" sz="1050" dirty="0"/>
          </a:p>
        </p:txBody>
      </p:sp>
      <p:sp>
        <p:nvSpPr>
          <p:cNvPr id="43" name="Text 12"/>
          <p:cNvSpPr/>
          <p:nvPr/>
        </p:nvSpPr>
        <p:spPr>
          <a:xfrm>
            <a:off x="4546550" y="1600200"/>
            <a:ext cx="7188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Orquesta comunicación entre servicios y asegura la fiabilidad en la entrega de tareas, especialmente entre FrontEnd y Trainer.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4622750" y="2133600"/>
            <a:ext cx="560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Colas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5165675" y="2133600"/>
            <a:ext cx="491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RPC</a:t>
            </a:r>
            <a:endParaRPr lang="en-US" sz="900" dirty="0"/>
          </a:p>
        </p:txBody>
      </p:sp>
      <p:sp>
        <p:nvSpPr>
          <p:cNvPr id="46" name="Text 15"/>
          <p:cNvSpPr/>
          <p:nvPr/>
        </p:nvSpPr>
        <p:spPr>
          <a:xfrm>
            <a:off x="5651450" y="2133600"/>
            <a:ext cx="74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5051375" y="27432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(3_backend)</a:t>
            </a:r>
            <a:endParaRPr lang="en-US" sz="1500" dirty="0"/>
          </a:p>
        </p:txBody>
      </p:sp>
      <p:sp>
        <p:nvSpPr>
          <p:cNvPr id="48" name="Text 17"/>
          <p:cNvSpPr/>
          <p:nvPr/>
        </p:nvSpPr>
        <p:spPr>
          <a:xfrm>
            <a:off x="5051375" y="3009900"/>
            <a:ext cx="2057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Lógica de Negocio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4546550" y="3276600"/>
            <a:ext cx="7188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Contiene la lógica principal, procesando peticiones usuarios, interactuando con la base de datos y coordinando operaciones con el Broker.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4622750" y="3810000"/>
            <a:ext cx="1245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Procesamiento</a:t>
            </a:r>
            <a:endParaRPr lang="en-US" sz="900" dirty="0"/>
          </a:p>
        </p:txBody>
      </p:sp>
      <p:sp>
        <p:nvSpPr>
          <p:cNvPr id="51" name="Text 20"/>
          <p:cNvSpPr/>
          <p:nvPr/>
        </p:nvSpPr>
        <p:spPr>
          <a:xfrm>
            <a:off x="5737175" y="3810000"/>
            <a:ext cx="1120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Coordinación</a:t>
            </a:r>
            <a:endParaRPr lang="en-US" sz="900" dirty="0"/>
          </a:p>
        </p:txBody>
      </p:sp>
      <p:sp>
        <p:nvSpPr>
          <p:cNvPr id="52" name="Text 21"/>
          <p:cNvSpPr/>
          <p:nvPr/>
        </p:nvSpPr>
        <p:spPr>
          <a:xfrm>
            <a:off x="6746825" y="3810000"/>
            <a:ext cx="834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Negocios</a:t>
            </a:r>
            <a:endParaRPr lang="en-US" sz="900" dirty="0"/>
          </a:p>
        </p:txBody>
      </p:sp>
      <p:sp>
        <p:nvSpPr>
          <p:cNvPr id="53" name="Text 22"/>
          <p:cNvSpPr/>
          <p:nvPr/>
        </p:nvSpPr>
        <p:spPr>
          <a:xfrm>
            <a:off x="4984700" y="4419600"/>
            <a:ext cx="1685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MariaDB</a:t>
            </a:r>
            <a:endParaRPr lang="en-US" sz="1500" dirty="0"/>
          </a:p>
        </p:txBody>
      </p:sp>
      <p:sp>
        <p:nvSpPr>
          <p:cNvPr id="54" name="Text 23"/>
          <p:cNvSpPr/>
          <p:nvPr/>
        </p:nvSpPr>
        <p:spPr>
          <a:xfrm>
            <a:off x="4984700" y="4686300"/>
            <a:ext cx="2023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Relacional</a:t>
            </a:r>
            <a:endParaRPr lang="en-US" sz="1050" dirty="0"/>
          </a:p>
        </p:txBody>
      </p:sp>
      <p:sp>
        <p:nvSpPr>
          <p:cNvPr id="55" name="Text 24"/>
          <p:cNvSpPr/>
          <p:nvPr/>
        </p:nvSpPr>
        <p:spPr>
          <a:xfrm>
            <a:off x="4546550" y="4953000"/>
            <a:ext cx="7188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Almacén de datos estructurados de la aplicación, incluyendo información de usuarios y configuraciones.</a:t>
            </a:r>
            <a:endParaRPr lang="en-US" sz="1200" dirty="0"/>
          </a:p>
        </p:txBody>
      </p:sp>
      <p:sp>
        <p:nvSpPr>
          <p:cNvPr id="56" name="Text 25"/>
          <p:cNvSpPr/>
          <p:nvPr/>
        </p:nvSpPr>
        <p:spPr>
          <a:xfrm>
            <a:off x="4622750" y="5486400"/>
            <a:ext cx="45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</a:t>
            </a:r>
            <a:endParaRPr lang="en-US" sz="900" dirty="0"/>
          </a:p>
        </p:txBody>
      </p:sp>
      <p:sp>
        <p:nvSpPr>
          <p:cNvPr id="57" name="Text 26"/>
          <p:cNvSpPr/>
          <p:nvPr/>
        </p:nvSpPr>
        <p:spPr>
          <a:xfrm>
            <a:off x="5079950" y="5486400"/>
            <a:ext cx="1165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Transacciones</a:t>
            </a:r>
            <a:endParaRPr lang="en-US" sz="900" dirty="0"/>
          </a:p>
        </p:txBody>
      </p:sp>
      <p:sp>
        <p:nvSpPr>
          <p:cNvPr id="58" name="Text 27"/>
          <p:cNvSpPr/>
          <p:nvPr/>
        </p:nvSpPr>
        <p:spPr>
          <a:xfrm>
            <a:off x="6127700" y="5486400"/>
            <a:ext cx="7886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</a:t>
            </a:r>
            <a:endParaRPr lang="en-US" sz="900" dirty="0"/>
          </a:p>
        </p:txBody>
      </p:sp>
      <p:sp>
        <p:nvSpPr>
          <p:cNvPr id="59" name="Text 28"/>
          <p:cNvSpPr/>
          <p:nvPr/>
        </p:nvSpPr>
        <p:spPr>
          <a:xfrm>
            <a:off x="9505950" y="6515100"/>
            <a:ext cx="2857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myllm.ai | Arquitectura de Sistemas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562600" cy="304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049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095500"/>
            <a:ext cx="52578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717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05100"/>
            <a:ext cx="52578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781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14700"/>
            <a:ext cx="52578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3909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152900"/>
            <a:ext cx="5562600" cy="2209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305300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067300"/>
            <a:ext cx="52578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1435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676900"/>
            <a:ext cx="52578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7531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952500"/>
            <a:ext cx="5562600" cy="5410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562100"/>
            <a:ext cx="2095500" cy="495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1638300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88500" y="2790825"/>
            <a:ext cx="2095500" cy="495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02800" y="2867025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0950" y="4330700"/>
            <a:ext cx="5334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5250" y="4406900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48575" y="5537200"/>
            <a:ext cx="2095500" cy="723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62875" y="57277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0" y="3457575"/>
            <a:ext cx="2095500" cy="647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34300" y="3533775"/>
            <a:ext cx="13335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Trainer Server - Entrenamiento de Modelos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971550" y="1143000"/>
            <a:ext cx="43548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4_Trainer: Servicio de Entrenamiento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457200" y="15240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 dedicado al entrenamiento de modelos LLM. Recibe datos y genera nuevos pesos del modelo.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781050" y="2133600"/>
            <a:ext cx="2308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Procesamiento de Datos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571500" y="24003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Convierte datos en embeddings semánticos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00100" y="2743200"/>
            <a:ext cx="1440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571500" y="30099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 pesos del modelo para incorporar conocimiento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781050" y="33528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Entrenamiento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571500" y="36195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Inyección de conocimiento y adaptadores modulares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857250" y="4343400"/>
            <a:ext cx="18173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 Database</a:t>
            </a:r>
            <a:endParaRPr lang="en-US" sz="1500" dirty="0"/>
          </a:p>
        </p:txBody>
      </p:sp>
      <p:sp>
        <p:nvSpPr>
          <p:cNvPr id="39" name="Text 10"/>
          <p:cNvSpPr/>
          <p:nvPr/>
        </p:nvSpPr>
        <p:spPr>
          <a:xfrm>
            <a:off x="457200" y="4724400"/>
            <a:ext cx="6309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vectorial para almacenar embeddings semánticos.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800100" y="5105400"/>
            <a:ext cx="2205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Búsquedas de Similitud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571500" y="53721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Recuperación eficiente de contexto relevante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819150" y="5715000"/>
            <a:ext cx="3154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Almacenamiento de Embeddings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571500" y="5981700"/>
            <a:ext cx="6172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representaciones vectoriales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6477000" y="11049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Datos </a:t>
            </a: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desde</a:t>
            </a: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Backend al Trainer Server</a:t>
            </a:r>
            <a:endParaRPr lang="en-US" sz="1500" dirty="0"/>
          </a:p>
        </p:txBody>
      </p:sp>
      <p:sp>
        <p:nvSpPr>
          <p:cNvPr id="45" name="Text 16"/>
          <p:cNvSpPr/>
          <p:nvPr/>
        </p:nvSpPr>
        <p:spPr>
          <a:xfrm>
            <a:off x="6629400" y="1600200"/>
            <a:ext cx="137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fmanagement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438900" y="18669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Ficheros planos, documentos</a:t>
            </a:r>
            <a:endParaRPr lang="en-US" sz="900" dirty="0"/>
          </a:p>
        </p:txBody>
      </p:sp>
      <p:sp>
        <p:nvSpPr>
          <p:cNvPr id="47" name="Text 18"/>
          <p:cNvSpPr/>
          <p:nvPr/>
        </p:nvSpPr>
        <p:spPr>
          <a:xfrm>
            <a:off x="9969500" y="2828925"/>
            <a:ext cx="868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4_Trainer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9702800" y="3095625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6654800" y="4368800"/>
            <a:ext cx="14744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Choma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Database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6445250" y="46355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Almacenamiento de embeddings</a:t>
            </a:r>
            <a:endParaRPr lang="en-US" sz="900" dirty="0"/>
          </a:p>
        </p:txBody>
      </p:sp>
      <p:sp>
        <p:nvSpPr>
          <p:cNvPr id="51" name="Text 22"/>
          <p:cNvSpPr/>
          <p:nvPr/>
        </p:nvSpPr>
        <p:spPr>
          <a:xfrm>
            <a:off x="7991475" y="5575300"/>
            <a:ext cx="1752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Modelos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7762875" y="60706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+ Fine-tunning</a:t>
            </a:r>
            <a:endParaRPr lang="en-US" sz="900" dirty="0"/>
          </a:p>
        </p:txBody>
      </p:sp>
      <p:sp>
        <p:nvSpPr>
          <p:cNvPr id="53" name="Text 24"/>
          <p:cNvSpPr/>
          <p:nvPr/>
        </p:nvSpPr>
        <p:spPr>
          <a:xfrm>
            <a:off x="7943850" y="3495675"/>
            <a:ext cx="662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Ollama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7734300" y="3762375"/>
            <a:ext cx="1981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Inferencia con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</a:t>
            </a: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actualizados</a:t>
            </a: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</a:t>
            </a:r>
            <a:endParaRPr lang="en-US" sz="900" dirty="0"/>
          </a:p>
        </p:txBody>
      </p:sp>
      <p:pic>
        <p:nvPicPr>
          <p:cNvPr id="56" name="Image 17" descr="preencoded.png">
            <a:extLst>
              <a:ext uri="{FF2B5EF4-FFF2-40B4-BE49-F238E27FC236}">
                <a16:creationId xmlns:a16="http://schemas.microsoft.com/office/drawing/2014/main" id="{EF5FB616-FDE5-BFF8-882D-DAA5DD61EB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2700" y="2222500"/>
            <a:ext cx="2095500" cy="495300"/>
          </a:xfrm>
          <a:prstGeom prst="rect">
            <a:avLst/>
          </a:prstGeom>
        </p:spPr>
      </p:pic>
      <p:pic>
        <p:nvPicPr>
          <p:cNvPr id="57" name="Image 18" descr="preencoded.png">
            <a:extLst>
              <a:ext uri="{FF2B5EF4-FFF2-40B4-BE49-F238E27FC236}">
                <a16:creationId xmlns:a16="http://schemas.microsoft.com/office/drawing/2014/main" id="{5ACABDEB-8D46-6C71-DA9F-191FE840E29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47000" y="2298700"/>
            <a:ext cx="114300" cy="152400"/>
          </a:xfrm>
          <a:prstGeom prst="rect">
            <a:avLst/>
          </a:prstGeom>
        </p:spPr>
      </p:pic>
      <p:sp>
        <p:nvSpPr>
          <p:cNvPr id="58" name="Text 16">
            <a:extLst>
              <a:ext uri="{FF2B5EF4-FFF2-40B4-BE49-F238E27FC236}">
                <a16:creationId xmlns:a16="http://schemas.microsoft.com/office/drawing/2014/main" id="{88A0759D-32ED-7D20-9822-3859BF4149E6}"/>
              </a:ext>
            </a:extLst>
          </p:cNvPr>
          <p:cNvSpPr/>
          <p:nvPr/>
        </p:nvSpPr>
        <p:spPr>
          <a:xfrm>
            <a:off x="7937500" y="2260600"/>
            <a:ext cx="137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Rsync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 SSH</a:t>
            </a:r>
            <a:endParaRPr lang="en-US" sz="12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4DDCB63C-98DA-CC24-5220-6C8DCF845247}"/>
              </a:ext>
            </a:extLst>
          </p:cNvPr>
          <p:cNvSpPr/>
          <p:nvPr/>
        </p:nvSpPr>
        <p:spPr>
          <a:xfrm>
            <a:off x="7747000" y="2527300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Copia</a:t>
            </a: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estrucutras</a:t>
            </a: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 trainer</a:t>
            </a:r>
            <a:endParaRPr lang="en-US" sz="900" dirty="0"/>
          </a:p>
        </p:txBody>
      </p:sp>
      <p:pic>
        <p:nvPicPr>
          <p:cNvPr id="60" name="Image 19" descr="preencoded.png">
            <a:extLst>
              <a:ext uri="{FF2B5EF4-FFF2-40B4-BE49-F238E27FC236}">
                <a16:creationId xmlns:a16="http://schemas.microsoft.com/office/drawing/2014/main" id="{3C53AAAD-062F-487B-A5D4-516A202A09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17075" y="4752975"/>
            <a:ext cx="2095500" cy="495300"/>
          </a:xfrm>
          <a:prstGeom prst="rect">
            <a:avLst/>
          </a:prstGeom>
        </p:spPr>
      </p:pic>
      <p:pic>
        <p:nvPicPr>
          <p:cNvPr id="61" name="Image 20" descr="preencoded.png">
            <a:extLst>
              <a:ext uri="{FF2B5EF4-FFF2-40B4-BE49-F238E27FC236}">
                <a16:creationId xmlns:a16="http://schemas.microsoft.com/office/drawing/2014/main" id="{F3FF42B7-B87C-FCF7-DE17-12A0BF6303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31375" y="4829175"/>
            <a:ext cx="190500" cy="152400"/>
          </a:xfrm>
          <a:prstGeom prst="rect">
            <a:avLst/>
          </a:prstGeom>
        </p:spPr>
      </p:pic>
      <p:sp>
        <p:nvSpPr>
          <p:cNvPr id="62" name="Text 18">
            <a:extLst>
              <a:ext uri="{FF2B5EF4-FFF2-40B4-BE49-F238E27FC236}">
                <a16:creationId xmlns:a16="http://schemas.microsoft.com/office/drawing/2014/main" id="{C5CD00C8-4B1B-F536-E2F3-18E05E2E1EFD}"/>
              </a:ext>
            </a:extLst>
          </p:cNvPr>
          <p:cNvSpPr/>
          <p:nvPr/>
        </p:nvSpPr>
        <p:spPr>
          <a:xfrm>
            <a:off x="9998075" y="4791075"/>
            <a:ext cx="868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4_Trainer</a:t>
            </a:r>
            <a:endParaRPr lang="en-US" sz="120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DA424A24-C7AE-7FB5-2381-E950AF5C830E}"/>
              </a:ext>
            </a:extLst>
          </p:cNvPr>
          <p:cNvSpPr/>
          <p:nvPr/>
        </p:nvSpPr>
        <p:spPr>
          <a:xfrm>
            <a:off x="9731375" y="5057775"/>
            <a:ext cx="2377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 </a:t>
            </a:r>
            <a:r>
              <a:rPr lang="en-US" sz="9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05" y="2071094"/>
            <a:ext cx="2095500" cy="102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05" y="2223494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605" y="2062216"/>
            <a:ext cx="2095500" cy="1028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9005" y="2214616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5788" y="1964558"/>
            <a:ext cx="22860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188" y="2116958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4343400"/>
            <a:ext cx="381000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7200" y="44958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4343400"/>
            <a:ext cx="4762500" cy="1524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450" y="48387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450" y="51054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450" y="5372100"/>
            <a:ext cx="133350" cy="1333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Interacción Broker-Trainer - Modo A (Inferencia)</a:t>
            </a:r>
            <a:endParaRPr lang="en-US" sz="2250" dirty="0"/>
          </a:p>
        </p:txBody>
      </p:sp>
      <p:sp>
        <p:nvSpPr>
          <p:cNvPr id="17" name="Text 1"/>
          <p:cNvSpPr/>
          <p:nvPr/>
        </p:nvSpPr>
        <p:spPr>
          <a:xfrm>
            <a:off x="304800" y="990600"/>
            <a:ext cx="11582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inferencia rápida que proporciona respuestas inmeditas a las solicitudes de los usuarios, utilizando modelos preexistentes sin reentrenamiento.</a:t>
            </a:r>
            <a:endParaRPr lang="en-US" sz="1200" dirty="0"/>
          </a:p>
        </p:txBody>
      </p:sp>
      <p:sp>
        <p:nvSpPr>
          <p:cNvPr id="18" name="Text 2"/>
          <p:cNvSpPr/>
          <p:nvPr/>
        </p:nvSpPr>
        <p:spPr>
          <a:xfrm>
            <a:off x="757555" y="2242544"/>
            <a:ext cx="1543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Usuario/Sistema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471805" y="2566394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Envía solicitudes web</a:t>
            </a:r>
            <a:endParaRPr lang="en-US" sz="1050" dirty="0"/>
          </a:p>
        </p:txBody>
      </p:sp>
      <p:sp>
        <p:nvSpPr>
          <p:cNvPr id="20" name="Text 4"/>
          <p:cNvSpPr/>
          <p:nvPr/>
        </p:nvSpPr>
        <p:spPr>
          <a:xfrm>
            <a:off x="2983805" y="2233666"/>
            <a:ext cx="1543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Backoffice Server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2679005" y="2557516"/>
            <a:ext cx="1790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Recibe y reenvía peticiones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5232988" y="2136008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 (7_service)</a:t>
            </a:r>
            <a:endParaRPr lang="en-US" sz="1100" dirty="0"/>
          </a:p>
        </p:txBody>
      </p:sp>
      <p:sp>
        <p:nvSpPr>
          <p:cNvPr id="23" name="Text 7"/>
          <p:cNvSpPr/>
          <p:nvPr/>
        </p:nvSpPr>
        <p:spPr>
          <a:xfrm>
            <a:off x="4928188" y="2459858"/>
            <a:ext cx="1981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Orquesta la comunicación y dirige a servicios internos para inferencia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8382000" y="4514850"/>
            <a:ext cx="662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Ollama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8077200" y="4838700"/>
            <a:ext cx="3505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y ejecuta modelos LLM optimizados para inferencia local, facilitando despliegue y ejecución eficiente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933450" y="4495800"/>
            <a:ext cx="4457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Ventajas del Modo A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1143000" y="4800600"/>
            <a:ext cx="5074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Respuestas inmediatas sin latencia asociada a reentrenamiento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1143000" y="506730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optimizados para inferencia local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1143000" y="5334000"/>
            <a:ext cx="4248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Idóneo para tareas de baja latencia donde no se requiere conocimiento más reciente</a:t>
            </a:r>
            <a:endParaRPr lang="en-US" sz="1050" dirty="0"/>
          </a:p>
        </p:txBody>
      </p:sp>
      <p:sp>
        <p:nvSpPr>
          <p:cNvPr id="30" name="Text 14"/>
          <p:cNvSpPr/>
          <p:nvPr/>
        </p:nvSpPr>
        <p:spPr>
          <a:xfrm>
            <a:off x="5019675" y="6438900"/>
            <a:ext cx="8241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Nota: Ollama permite gestionar modelos de forma ágil, cargando solo los necesarios para la inferencia.</a:t>
            </a:r>
            <a:endParaRPr lang="en-US" sz="1050" dirty="0"/>
          </a:p>
        </p:txBody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D07F9BA6-3246-83A6-B956-B498CF0145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6134" y="1973436"/>
            <a:ext cx="2286000" cy="1219200"/>
          </a:xfrm>
          <a:prstGeom prst="rect">
            <a:avLst/>
          </a:prstGeom>
        </p:spPr>
      </p:pic>
      <p:pic>
        <p:nvPicPr>
          <p:cNvPr id="32" name="Image 7" descr="preencoded.png">
            <a:extLst>
              <a:ext uri="{FF2B5EF4-FFF2-40B4-BE49-F238E27FC236}">
                <a16:creationId xmlns:a16="http://schemas.microsoft.com/office/drawing/2014/main" id="{1FE9391A-0086-CE28-DE60-209DCAA635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8534" y="2125836"/>
            <a:ext cx="190500" cy="266700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48FFB8F2-55BE-C274-8E5B-D8562EBBE130}"/>
              </a:ext>
            </a:extLst>
          </p:cNvPr>
          <p:cNvSpPr/>
          <p:nvPr/>
        </p:nvSpPr>
        <p:spPr>
          <a:xfrm>
            <a:off x="7603334" y="2144886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Broker (8_service)</a:t>
            </a:r>
            <a:endParaRPr lang="en-US" sz="11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F38F3CD3-3F0E-B1C7-A37E-AE6740C9F909}"/>
              </a:ext>
            </a:extLst>
          </p:cNvPr>
          <p:cNvSpPr/>
          <p:nvPr/>
        </p:nvSpPr>
        <p:spPr>
          <a:xfrm>
            <a:off x="7298534" y="2468736"/>
            <a:ext cx="19812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Orquesta la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comunicación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backend core y backend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</a:t>
            </a:r>
            <a:endParaRPr lang="en-US" sz="1050" dirty="0"/>
          </a:p>
        </p:txBody>
      </p:sp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DB6EA05B-F59D-3AA5-091B-DC6BAC4A03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366" y="1973436"/>
            <a:ext cx="2286000" cy="1219200"/>
          </a:xfrm>
          <a:prstGeom prst="rect">
            <a:avLst/>
          </a:prstGeom>
        </p:spPr>
      </p:pic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868D17DA-42BC-EBE7-CDA2-D4C9EE80E3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7766" y="2125836"/>
            <a:ext cx="190500" cy="266700"/>
          </a:xfrm>
          <a:prstGeom prst="rect">
            <a:avLst/>
          </a:prstGeom>
        </p:spPr>
      </p:pic>
      <p:sp>
        <p:nvSpPr>
          <p:cNvPr id="37" name="Text 6">
            <a:extLst>
              <a:ext uri="{FF2B5EF4-FFF2-40B4-BE49-F238E27FC236}">
                <a16:creationId xmlns:a16="http://schemas.microsoft.com/office/drawing/2014/main" id="{82693805-EA78-536B-3706-9A0EDA396A95}"/>
              </a:ext>
            </a:extLst>
          </p:cNvPr>
          <p:cNvSpPr/>
          <p:nvPr/>
        </p:nvSpPr>
        <p:spPr>
          <a:xfrm>
            <a:off x="9982566" y="2144886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Trainer (4_trainer)</a:t>
            </a:r>
            <a:endParaRPr lang="en-US" sz="11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BC16F4B8-344F-177E-F694-038DBF4D2B4F}"/>
              </a:ext>
            </a:extLst>
          </p:cNvPr>
          <p:cNvSpPr/>
          <p:nvPr/>
        </p:nvSpPr>
        <p:spPr>
          <a:xfrm>
            <a:off x="9578795" y="2468736"/>
            <a:ext cx="2207199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Gestiona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junto con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soporte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usando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IA local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19200"/>
            <a:ext cx="2294037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71600"/>
            <a:ext cx="17145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752600"/>
            <a:ext cx="104775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2098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871" y="990600"/>
            <a:ext cx="2294037" cy="1943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3271" y="11430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3271" y="15240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3271" y="19812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3271" y="2438400"/>
            <a:ext cx="11430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6943" y="1085850"/>
            <a:ext cx="2294037" cy="1752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9343" y="123825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9343" y="1619250"/>
            <a:ext cx="11430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9343" y="1885950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9343" y="234315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93014" y="990600"/>
            <a:ext cx="2294037" cy="1943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45414" y="11430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45414" y="1524000"/>
            <a:ext cx="11430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5414" y="19812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45414" y="2438400"/>
            <a:ext cx="11430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3238500"/>
            <a:ext cx="11582400" cy="2705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3505200"/>
            <a:ext cx="23812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28863" y="6096000"/>
            <a:ext cx="7534275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81263" y="6219825"/>
            <a:ext cx="104775" cy="1333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Interacción Broker-Trainer - Modo B (Entrenamiento)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704850" y="1371600"/>
            <a:ext cx="18173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de Datos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638175" y="1714500"/>
            <a:ext cx="18082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fmanagement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Ficheros planos, documentos</a:t>
            </a:r>
            <a:endParaRPr lang="en-US" sz="1050" dirty="0"/>
          </a:p>
        </p:txBody>
      </p:sp>
      <p:sp>
        <p:nvSpPr>
          <p:cNvPr id="30" name="Text 3"/>
          <p:cNvSpPr/>
          <p:nvPr/>
        </p:nvSpPr>
        <p:spPr>
          <a:xfrm>
            <a:off x="666750" y="2171700"/>
            <a:ext cx="17796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3_backend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Logs, interacciones de usuario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3819971" y="114300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Broker (8_service)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3762821" y="1485900"/>
            <a:ext cx="17796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Detección de nuevos datos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3762821" y="1943100"/>
            <a:ext cx="17796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cola de entrenamiento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3743771" y="2400300"/>
            <a:ext cx="179873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Transferencia a servidor de entrenamiento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6963668" y="1238250"/>
            <a:ext cx="1874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Trainer (4_Trainer)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6839843" y="1581150"/>
            <a:ext cx="19545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Procesamiento de datos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6839843" y="1847850"/>
            <a:ext cx="179873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Conversión a embeddings semánticos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6858893" y="2305050"/>
            <a:ext cx="17796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Entrenamiento/fine-tuning del modelo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9993064" y="1143000"/>
            <a:ext cx="1623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 Database</a:t>
            </a:r>
            <a:endParaRPr lang="en-US" sz="1350" dirty="0"/>
          </a:p>
        </p:txBody>
      </p:sp>
      <p:sp>
        <p:nvSpPr>
          <p:cNvPr id="40" name="Text 13"/>
          <p:cNvSpPr/>
          <p:nvPr/>
        </p:nvSpPr>
        <p:spPr>
          <a:xfrm>
            <a:off x="9935914" y="1485900"/>
            <a:ext cx="179873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Almacenamiento de embeddings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9954964" y="1943100"/>
            <a:ext cx="17796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Búsquedas de similitud eficientes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9935914" y="2400300"/>
            <a:ext cx="179873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Recuperación de contexto para LLM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847725" y="3467100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Proceso de Entrenamiento</a:t>
            </a:r>
            <a:endParaRPr lang="en-US" sz="1500" dirty="0"/>
          </a:p>
        </p:txBody>
      </p:sp>
      <p:sp>
        <p:nvSpPr>
          <p:cNvPr id="44" name="Text 17"/>
          <p:cNvSpPr/>
          <p:nvPr/>
        </p:nvSpPr>
        <p:spPr>
          <a:xfrm>
            <a:off x="533400" y="384810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Ingesta de Nuevos Datos</a:t>
            </a:r>
            <a:endParaRPr lang="en-US" sz="1350" dirty="0"/>
          </a:p>
        </p:txBody>
      </p:sp>
      <p:sp>
        <p:nvSpPr>
          <p:cNvPr id="45" name="Text 18"/>
          <p:cNvSpPr/>
          <p:nvPr/>
        </p:nvSpPr>
        <p:spPr>
          <a:xfrm>
            <a:off x="533400" y="4191000"/>
            <a:ext cx="5448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recopilan datos de diversas fuentes para actualizar el modelo existente. Esta ingesta representa el conocimiento que se desea inyectar en el modelo.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6210300" y="384810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Procesamiento y Embeddings</a:t>
            </a:r>
            <a:endParaRPr lang="en-US" sz="1350" dirty="0"/>
          </a:p>
        </p:txBody>
      </p:sp>
      <p:sp>
        <p:nvSpPr>
          <p:cNvPr id="47" name="Text 20"/>
          <p:cNvSpPr/>
          <p:nvPr/>
        </p:nvSpPr>
        <p:spPr>
          <a:xfrm>
            <a:off x="6210300" y="4191000"/>
            <a:ext cx="5448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datos se procesan y se generan </a:t>
            </a: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 semánticos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capturan el significado contextual de la información.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533400" y="480060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Actualización de Modelos</a:t>
            </a:r>
            <a:endParaRPr lang="en-US" sz="1350" dirty="0"/>
          </a:p>
        </p:txBody>
      </p:sp>
      <p:sp>
        <p:nvSpPr>
          <p:cNvPr id="49" name="Text 22"/>
          <p:cNvSpPr/>
          <p:nvPr/>
        </p:nvSpPr>
        <p:spPr>
          <a:xfrm>
            <a:off x="533400" y="5143500"/>
            <a:ext cx="5448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utiliza la Keras Database para realizar un entrenamiento o </a:t>
            </a: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modelo LLM existente, ajustando los pesos para incorporar el nuevo conocimiento.</a:t>
            </a:r>
            <a:endParaRPr lang="en-US" sz="1050" dirty="0"/>
          </a:p>
        </p:txBody>
      </p:sp>
      <p:sp>
        <p:nvSpPr>
          <p:cNvPr id="50" name="Text 23"/>
          <p:cNvSpPr/>
          <p:nvPr/>
        </p:nvSpPr>
        <p:spPr>
          <a:xfrm>
            <a:off x="6210300" y="480060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Resultado</a:t>
            </a:r>
            <a:endParaRPr lang="en-US" sz="1350" dirty="0"/>
          </a:p>
        </p:txBody>
      </p:sp>
      <p:sp>
        <p:nvSpPr>
          <p:cNvPr id="51" name="Text 24"/>
          <p:cNvSpPr/>
          <p:nvPr/>
        </p:nvSpPr>
        <p:spPr>
          <a:xfrm>
            <a:off x="6210300" y="5143500"/>
            <a:ext cx="5448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obtiene una nueva versión del modelo LLM, con capacidades mejoradas y conocimiento actualizado, lista para ser desplegada en el modo de inferencia.</a:t>
            </a:r>
            <a:endParaRPr lang="en-US" sz="1050" dirty="0"/>
          </a:p>
        </p:txBody>
      </p:sp>
      <p:sp>
        <p:nvSpPr>
          <p:cNvPr id="52" name="Text 25"/>
          <p:cNvSpPr/>
          <p:nvPr/>
        </p:nvSpPr>
        <p:spPr>
          <a:xfrm>
            <a:off x="2624138" y="6200775"/>
            <a:ext cx="867537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Técnicas clave: Static Knowledge Embedding, Modular Knowledge Adapters, LoRA (Low-Rank Adaptation)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200150"/>
            <a:ext cx="2392710" cy="2057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280" y="13906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1068" y="15430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510" y="2219325"/>
            <a:ext cx="67062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8129" y="1066800"/>
            <a:ext cx="2392710" cy="2324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610" y="12573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0110" y="14097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839" y="2219325"/>
            <a:ext cx="67062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1459" y="1162050"/>
            <a:ext cx="2392710" cy="2133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22939" y="135255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4864" y="150495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4168" y="2219325"/>
            <a:ext cx="67062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94788" y="1162050"/>
            <a:ext cx="2392710" cy="2133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6268" y="135255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8193" y="150495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800" y="3924300"/>
            <a:ext cx="5676900" cy="106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4114800"/>
            <a:ext cx="15240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44577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468630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800" y="5219700"/>
            <a:ext cx="5676900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5410200"/>
            <a:ext cx="17145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7531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9817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0300" y="3924300"/>
            <a:ext cx="5676900" cy="1295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62700" y="4114800"/>
            <a:ext cx="219075" cy="1714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44577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4686300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491490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0300" y="5448300"/>
            <a:ext cx="5676900" cy="1066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62700" y="5638800"/>
            <a:ext cx="219075" cy="1714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5981700"/>
            <a:ext cx="1143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6210300"/>
            <a:ext cx="114300" cy="1524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de Creación del Modelo</a:t>
            </a:r>
            <a:endParaRPr lang="en-US" sz="2250" dirty="0"/>
          </a:p>
        </p:txBody>
      </p:sp>
      <p:sp>
        <p:nvSpPr>
          <p:cNvPr id="37" name="Text 1"/>
          <p:cNvSpPr/>
          <p:nvPr/>
        </p:nvSpPr>
        <p:spPr>
          <a:xfrm>
            <a:off x="581918" y="2152650"/>
            <a:ext cx="22059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Ingesta de Datos</a:t>
            </a:r>
            <a:endParaRPr lang="en-US" sz="1500" dirty="0"/>
          </a:p>
        </p:txBody>
      </p:sp>
      <p:sp>
        <p:nvSpPr>
          <p:cNvPr id="38" name="Text 2"/>
          <p:cNvSpPr/>
          <p:nvPr/>
        </p:nvSpPr>
        <p:spPr>
          <a:xfrm>
            <a:off x="495300" y="2495550"/>
            <a:ext cx="201171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Recopilación de datos de diversas fuentes para enriquecer el modelo</a:t>
            </a:r>
            <a:endParaRPr lang="en-US" sz="1050" dirty="0"/>
          </a:p>
        </p:txBody>
      </p:sp>
      <p:sp>
        <p:nvSpPr>
          <p:cNvPr id="39" name="Text 3"/>
          <p:cNvSpPr/>
          <p:nvPr/>
        </p:nvSpPr>
        <p:spPr>
          <a:xfrm>
            <a:off x="3558629" y="2019300"/>
            <a:ext cx="2011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Verificación de Fuentes</a:t>
            </a:r>
            <a:endParaRPr lang="en-US" sz="1500" dirty="0"/>
          </a:p>
        </p:txBody>
      </p:sp>
      <p:sp>
        <p:nvSpPr>
          <p:cNvPr id="40" name="Text 4"/>
          <p:cNvSpPr/>
          <p:nvPr/>
        </p:nvSpPr>
        <p:spPr>
          <a:xfrm>
            <a:off x="3558629" y="2628900"/>
            <a:ext cx="201171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de autenticidad, relevancia y consistencia de los datos</a:t>
            </a:r>
            <a:endParaRPr lang="en-US" sz="1050" dirty="0"/>
          </a:p>
        </p:txBody>
      </p:sp>
      <p:sp>
        <p:nvSpPr>
          <p:cNvPr id="41" name="Text 5"/>
          <p:cNvSpPr/>
          <p:nvPr/>
        </p:nvSpPr>
        <p:spPr>
          <a:xfrm>
            <a:off x="6621959" y="2114550"/>
            <a:ext cx="2011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Optimización de Entrenamiento</a:t>
            </a:r>
            <a:endParaRPr lang="en-US" sz="1500" dirty="0"/>
          </a:p>
        </p:txBody>
      </p:sp>
      <p:sp>
        <p:nvSpPr>
          <p:cNvPr id="42" name="Text 6"/>
          <p:cNvSpPr/>
          <p:nvPr/>
        </p:nvSpPr>
        <p:spPr>
          <a:xfrm>
            <a:off x="6621959" y="2724150"/>
            <a:ext cx="2011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del modelo existente con conocimiento inyectado</a:t>
            </a:r>
            <a:endParaRPr lang="en-US" sz="1050" dirty="0"/>
          </a:p>
        </p:txBody>
      </p:sp>
      <p:sp>
        <p:nvSpPr>
          <p:cNvPr id="43" name="Text 7"/>
          <p:cNvSpPr/>
          <p:nvPr/>
        </p:nvSpPr>
        <p:spPr>
          <a:xfrm>
            <a:off x="9685288" y="2114550"/>
            <a:ext cx="2011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Output en Formato LLM</a:t>
            </a:r>
            <a:endParaRPr lang="en-US" sz="1500" dirty="0"/>
          </a:p>
        </p:txBody>
      </p:sp>
      <p:sp>
        <p:nvSpPr>
          <p:cNvPr id="44" name="Text 8"/>
          <p:cNvSpPr/>
          <p:nvPr/>
        </p:nvSpPr>
        <p:spPr>
          <a:xfrm>
            <a:off x="9685288" y="2724150"/>
            <a:ext cx="2011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 del nuevo modelo o actualización de pesos</a:t>
            </a:r>
            <a:endParaRPr lang="en-US" sz="1050" dirty="0"/>
          </a:p>
        </p:txBody>
      </p:sp>
      <p:sp>
        <p:nvSpPr>
          <p:cNvPr id="45" name="Text 9"/>
          <p:cNvSpPr/>
          <p:nvPr/>
        </p:nvSpPr>
        <p:spPr>
          <a:xfrm>
            <a:off x="685800" y="40767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Ingesta de Datos</a:t>
            </a:r>
            <a:endParaRPr lang="en-US" sz="1350" dirty="0"/>
          </a:p>
        </p:txBody>
      </p:sp>
      <p:sp>
        <p:nvSpPr>
          <p:cNvPr id="46" name="Text 10"/>
          <p:cNvSpPr/>
          <p:nvPr/>
        </p:nvSpPr>
        <p:spPr>
          <a:xfrm>
            <a:off x="647700" y="4419600"/>
            <a:ext cx="5234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Documentos, registros de interacciones y bases de conocimiento</a:t>
            </a:r>
            <a:endParaRPr lang="en-US" sz="1050" dirty="0"/>
          </a:p>
        </p:txBody>
      </p:sp>
      <p:sp>
        <p:nvSpPr>
          <p:cNvPr id="47" name="Text 11"/>
          <p:cNvSpPr/>
          <p:nvPr/>
        </p:nvSpPr>
        <p:spPr>
          <a:xfrm>
            <a:off x="647700" y="4648200"/>
            <a:ext cx="3714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Ficheros planos, documentos y bases de datos</a:t>
            </a:r>
            <a:endParaRPr lang="en-US" sz="1050" dirty="0"/>
          </a:p>
        </p:txBody>
      </p:sp>
      <p:sp>
        <p:nvSpPr>
          <p:cNvPr id="48" name="Text 12"/>
          <p:cNvSpPr/>
          <p:nvPr/>
        </p:nvSpPr>
        <p:spPr>
          <a:xfrm>
            <a:off x="704850" y="53721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Verificación de Fuentes</a:t>
            </a:r>
            <a:endParaRPr lang="en-US" sz="1350" dirty="0"/>
          </a:p>
        </p:txBody>
      </p:sp>
      <p:sp>
        <p:nvSpPr>
          <p:cNvPr id="49" name="Text 13"/>
          <p:cNvSpPr/>
          <p:nvPr/>
        </p:nvSpPr>
        <p:spPr>
          <a:xfrm>
            <a:off x="647700" y="5715000"/>
            <a:ext cx="400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Eliminación de duplicados y corrección de errores</a:t>
            </a:r>
            <a:endParaRPr lang="en-US" sz="1050" dirty="0"/>
          </a:p>
        </p:txBody>
      </p:sp>
      <p:sp>
        <p:nvSpPr>
          <p:cNvPr id="50" name="Text 14"/>
          <p:cNvSpPr/>
          <p:nvPr/>
        </p:nvSpPr>
        <p:spPr>
          <a:xfrm>
            <a:off x="647700" y="594360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Normalización de formatos y filtrado de información sesgada</a:t>
            </a:r>
            <a:endParaRPr lang="en-US" sz="1050" dirty="0"/>
          </a:p>
        </p:txBody>
      </p:sp>
      <p:sp>
        <p:nvSpPr>
          <p:cNvPr id="51" name="Text 15"/>
          <p:cNvSpPr/>
          <p:nvPr/>
        </p:nvSpPr>
        <p:spPr>
          <a:xfrm>
            <a:off x="6657975" y="407670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Optimización de Entrenamiento</a:t>
            </a:r>
            <a:endParaRPr lang="en-US" sz="1350" dirty="0"/>
          </a:p>
        </p:txBody>
      </p:sp>
      <p:sp>
        <p:nvSpPr>
          <p:cNvPr id="52" name="Text 16"/>
          <p:cNvSpPr/>
          <p:nvPr/>
        </p:nvSpPr>
        <p:spPr>
          <a:xfrm>
            <a:off x="6553200" y="4419600"/>
            <a:ext cx="4503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avanzadas de optimización de hiperparámetros</a:t>
            </a:r>
            <a:endParaRPr lang="en-US" sz="1050" dirty="0"/>
          </a:p>
        </p:txBody>
      </p:sp>
      <p:sp>
        <p:nvSpPr>
          <p:cNvPr id="53" name="Text 17"/>
          <p:cNvSpPr/>
          <p:nvPr/>
        </p:nvSpPr>
        <p:spPr>
          <a:xfrm>
            <a:off x="6553200" y="4648200"/>
            <a:ext cx="3954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LoRA (Low-Rank Adaptation) para ajuste eficiente</a:t>
            </a:r>
            <a:endParaRPr lang="en-US" sz="1050" dirty="0"/>
          </a:p>
        </p:txBody>
      </p:sp>
      <p:sp>
        <p:nvSpPr>
          <p:cNvPr id="54" name="Text 18"/>
          <p:cNvSpPr/>
          <p:nvPr/>
        </p:nvSpPr>
        <p:spPr>
          <a:xfrm>
            <a:off x="6553200" y="4876800"/>
            <a:ext cx="4617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inyección de conocimiento (static o modular)</a:t>
            </a:r>
            <a:endParaRPr lang="en-US" sz="1050" dirty="0"/>
          </a:p>
        </p:txBody>
      </p:sp>
      <p:sp>
        <p:nvSpPr>
          <p:cNvPr id="55" name="Text 19"/>
          <p:cNvSpPr/>
          <p:nvPr/>
        </p:nvSpPr>
        <p:spPr>
          <a:xfrm>
            <a:off x="6657975" y="56007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Output en Formato LLM</a:t>
            </a:r>
            <a:endParaRPr lang="en-US" sz="1350" dirty="0"/>
          </a:p>
        </p:txBody>
      </p:sp>
      <p:sp>
        <p:nvSpPr>
          <p:cNvPr id="56" name="Text 20"/>
          <p:cNvSpPr/>
          <p:nvPr/>
        </p:nvSpPr>
        <p:spPr>
          <a:xfrm>
            <a:off x="6553200" y="5943600"/>
            <a:ext cx="4560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Formatos estándar como GGUF o ONNX para despliegue</a:t>
            </a:r>
            <a:endParaRPr lang="en-US" sz="1050" dirty="0"/>
          </a:p>
        </p:txBody>
      </p:sp>
      <p:sp>
        <p:nvSpPr>
          <p:cNvPr id="57" name="Text 21"/>
          <p:cNvSpPr/>
          <p:nvPr/>
        </p:nvSpPr>
        <p:spPr>
          <a:xfrm>
            <a:off x="6553200" y="6172200"/>
            <a:ext cx="4674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listo para inferencia con conocimiento actualizado</a:t>
            </a:r>
            <a:endParaRPr lang="en-US" sz="1050" dirty="0"/>
          </a:p>
        </p:txBody>
      </p:sp>
      <p:sp>
        <p:nvSpPr>
          <p:cNvPr id="58" name="Text 22"/>
          <p:cNvSpPr/>
          <p:nvPr/>
        </p:nvSpPr>
        <p:spPr>
          <a:xfrm>
            <a:off x="6896100" y="6438900"/>
            <a:ext cx="5989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pipeline garantiza la eficiencia y calidad en la inyección de conocimiento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34" y="2247900"/>
            <a:ext cx="239271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414" y="2438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339" y="2590800"/>
            <a:ext cx="285750" cy="3048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Trainer) Hardware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recomendado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entornos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</a:t>
            </a:r>
            <a:endParaRPr lang="en-US" sz="2250" dirty="0"/>
          </a:p>
        </p:txBody>
      </p:sp>
      <p:sp>
        <p:nvSpPr>
          <p:cNvPr id="41" name="Text 5"/>
          <p:cNvSpPr/>
          <p:nvPr/>
        </p:nvSpPr>
        <p:spPr>
          <a:xfrm>
            <a:off x="325934" y="3200400"/>
            <a:ext cx="2392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</a:t>
            </a:r>
            <a:r>
              <a:rPr lang="en-US" sz="14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4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Costes</a:t>
            </a:r>
            <a:endParaRPr lang="en-US" sz="1400" dirty="0"/>
          </a:p>
        </p:txBody>
      </p:sp>
      <p:sp>
        <p:nvSpPr>
          <p:cNvPr id="42" name="Text 6"/>
          <p:cNvSpPr/>
          <p:nvPr/>
        </p:nvSpPr>
        <p:spPr>
          <a:xfrm>
            <a:off x="516434" y="3657600"/>
            <a:ext cx="2011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coste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caracteristicas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demandado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Nvidia.</a:t>
            </a:r>
            <a:endParaRPr lang="en-US" sz="1050" dirty="0"/>
          </a:p>
        </p:txBody>
      </p:sp>
      <p:sp>
        <p:nvSpPr>
          <p:cNvPr id="58" name="Text 22"/>
          <p:cNvSpPr/>
          <p:nvPr/>
        </p:nvSpPr>
        <p:spPr>
          <a:xfrm>
            <a:off x="3114674" y="6315075"/>
            <a:ext cx="4752976" cy="264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Gama de </a:t>
            </a:r>
            <a:r>
              <a:rPr lang="en-US" sz="105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05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tecnologias</a:t>
            </a: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2025</a:t>
            </a:r>
            <a:endParaRPr lang="en-US" sz="1050" dirty="0"/>
          </a:p>
        </p:txBody>
      </p:sp>
      <p:pic>
        <p:nvPicPr>
          <p:cNvPr id="60" name="Imagen 59" descr="Tabla&#10;&#10;El contenido generado por IA puede ser incorrecto.">
            <a:extLst>
              <a:ext uri="{FF2B5EF4-FFF2-40B4-BE49-F238E27FC236}">
                <a16:creationId xmlns:a16="http://schemas.microsoft.com/office/drawing/2014/main" id="{9C0DD19E-AD7A-48F0-0D50-D06E4DAE70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674" y="790574"/>
            <a:ext cx="4752976" cy="54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79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34" y="2247900"/>
            <a:ext cx="239271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414" y="2438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339" y="2590800"/>
            <a:ext cx="285750" cy="3048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Trainer) Hardware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recomendado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entornos</a:t>
            </a: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25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preproduccion</a:t>
            </a:r>
            <a:endParaRPr lang="en-US" sz="2250" dirty="0"/>
          </a:p>
        </p:txBody>
      </p:sp>
      <p:sp>
        <p:nvSpPr>
          <p:cNvPr id="41" name="Text 5"/>
          <p:cNvSpPr/>
          <p:nvPr/>
        </p:nvSpPr>
        <p:spPr>
          <a:xfrm>
            <a:off x="325934" y="3200400"/>
            <a:ext cx="2392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</a:t>
            </a:r>
            <a:r>
              <a:rPr lang="en-US" sz="14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4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Costes</a:t>
            </a:r>
            <a:endParaRPr lang="en-US" sz="1400" dirty="0"/>
          </a:p>
        </p:txBody>
      </p:sp>
      <p:sp>
        <p:nvSpPr>
          <p:cNvPr id="42" name="Text 6"/>
          <p:cNvSpPr/>
          <p:nvPr/>
        </p:nvSpPr>
        <p:spPr>
          <a:xfrm>
            <a:off x="516434" y="3657600"/>
            <a:ext cx="201171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coste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caracteristicas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demandado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Nvidia.</a:t>
            </a:r>
            <a:endParaRPr lang="en-US" sz="1050" dirty="0"/>
          </a:p>
        </p:txBody>
      </p:sp>
      <p:sp>
        <p:nvSpPr>
          <p:cNvPr id="58" name="Text 22"/>
          <p:cNvSpPr/>
          <p:nvPr/>
        </p:nvSpPr>
        <p:spPr>
          <a:xfrm>
            <a:off x="3080738" y="6315075"/>
            <a:ext cx="7939687" cy="264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Gama de </a:t>
            </a:r>
            <a:r>
              <a:rPr lang="en-US" sz="105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05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tecnologias</a:t>
            </a:r>
            <a:r>
              <a:rPr lang="en-US" sz="105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2025</a:t>
            </a:r>
            <a:endParaRPr lang="en-US" sz="1050" dirty="0"/>
          </a:p>
        </p:txBody>
      </p:sp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019C0EBC-1971-4829-4D04-D951B26010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0738" y="862715"/>
            <a:ext cx="7939687" cy="541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524000"/>
            <a:ext cx="5695950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764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18097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1981200"/>
            <a:ext cx="576263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23526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28860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524000"/>
            <a:ext cx="5695950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6764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8097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7550" y="1981200"/>
            <a:ext cx="507206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0" y="23526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0" y="28860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657600"/>
            <a:ext cx="5695950" cy="1943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8100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8" y="394335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1100" y="4114800"/>
            <a:ext cx="550069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44862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50196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657600"/>
            <a:ext cx="5695950" cy="1943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3650" y="38100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9388" y="3943350"/>
            <a:ext cx="20002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67550" y="4114800"/>
            <a:ext cx="554831" cy="190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0" y="44862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0" y="5019675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de Evaluación del Sistema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304800" y="914400"/>
            <a:ext cx="11582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validar la efectividad del </a:t>
            </a:r>
            <a:r>
              <a:rPr lang="en-US" sz="12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</a:t>
            </a: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getmyllm.com, se empleó un conjunto de métricas cuantitativas que evalúan la calidad del lenguaje generado y el rendimiento operativo.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1181100" y="1676400"/>
            <a:ext cx="2766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Perplejidad (Perplexity)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1447800" y="23241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Mide cuán probable es una secuencia de palabras en un modelo de lenguaje.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447800" y="28575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Valores más bajos indican un mejor rendimiento del modelo.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067550" y="1676400"/>
            <a:ext cx="2434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Scores BLEU/ROUGE</a:t>
            </a:r>
            <a:endParaRPr lang="en-US" sz="1500" dirty="0"/>
          </a:p>
        </p:txBody>
      </p:sp>
      <p:sp>
        <p:nvSpPr>
          <p:cNvPr id="34" name="Text 6"/>
          <p:cNvSpPr/>
          <p:nvPr/>
        </p:nvSpPr>
        <p:spPr>
          <a:xfrm>
            <a:off x="7334250" y="23241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BLEU: Compara la salida del modelo con referencias humanas.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7334250" y="28575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ROUGE: Evalúa la calidad de las respuestas en términos de recall.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1181100" y="3810000"/>
            <a:ext cx="26403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Recall@K </a:t>
            </a: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Chroma DB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1447800" y="44577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Mide la efectividad de la base de datos vectorial para recuperar información relevante.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1447800" y="49911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Valores más altos indican una mejor capacidad de recuperación.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7067550" y="3810000"/>
            <a:ext cx="26631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Latencia de Respuesta</a:t>
            </a:r>
            <a:endParaRPr lang="en-US" sz="1500" dirty="0"/>
          </a:p>
        </p:txBody>
      </p:sp>
      <p:sp>
        <p:nvSpPr>
          <p:cNvPr id="40" name="Text 12"/>
          <p:cNvSpPr/>
          <p:nvPr/>
        </p:nvSpPr>
        <p:spPr>
          <a:xfrm>
            <a:off x="7334250" y="44577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Tiempo que tarda el sistema en procesar una solicitud y devolver una respuesta.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7334250" y="49911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Valores más bajos indican un mejor rendimiento operativo.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90600"/>
            <a:ext cx="3708350" cy="523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00200"/>
            <a:ext cx="3327350" cy="876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628900"/>
            <a:ext cx="3327350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657600"/>
            <a:ext cx="332735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686300"/>
            <a:ext cx="3327350" cy="876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651" y="1895475"/>
            <a:ext cx="24384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601" y="2581275"/>
            <a:ext cx="952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651" y="3152775"/>
            <a:ext cx="24384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601" y="4295775"/>
            <a:ext cx="952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651" y="4867275"/>
            <a:ext cx="24384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8701" y="990600"/>
            <a:ext cx="3708350" cy="5238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1866900"/>
            <a:ext cx="3327350" cy="876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2895600"/>
            <a:ext cx="3327350" cy="876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3924300"/>
            <a:ext cx="3327350" cy="876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4953000"/>
            <a:ext cx="3327350" cy="876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Comparativa: Ficheros Planos vs Embeddings Semánticos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609600" y="1181100"/>
            <a:ext cx="37833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Ficheros Planos (fmanagement)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85800" y="1714500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Básica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609600" y="19812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Almacenamiento de datos sin procesamiento semántico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685800" y="2743200"/>
            <a:ext cx="15887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 Literal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09600" y="30099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Coincidencia exacta de términos, sin comprensión contextual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685800" y="3771900"/>
            <a:ext cx="1977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Relaciones Limitadas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09600" y="40386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Dificultad para representar conexiones conceptuales complejas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685800" y="4800600"/>
            <a:ext cx="720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Riesgos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09600" y="50673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Mayor probabilidad de alucinaciones debido a falta de context,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mejorable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4769971" y="2009775"/>
            <a:ext cx="2651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Ficheros Planos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4815691" y="3305175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Procesamiento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5029051" y="3533775"/>
            <a:ext cx="213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Conversión a embeddings semánticos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4990951" y="4981575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 DB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8483501" y="1181100"/>
            <a:ext cx="3213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 </a:t>
            </a:r>
            <a:r>
              <a:rPr lang="en-US" sz="15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Semánticos</a:t>
            </a: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(Chroma DB)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8559701" y="19812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Representación Contextual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8483501" y="22479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del significado y relaciones conceptuales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8559701" y="300990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 Semántica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8483501" y="32766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 basada en similitud de significado, no solo coincidencia textual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8559701" y="4038600"/>
            <a:ext cx="2148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 Mejorado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8483501" y="43053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Búsquedas de similitud eficientes gracias a la indexación vectorial</a:t>
            </a:r>
            <a:endParaRPr lang="en-US" sz="1050" dirty="0"/>
          </a:p>
        </p:txBody>
      </p:sp>
      <p:sp>
        <p:nvSpPr>
          <p:cNvPr id="40" name="Text 21"/>
          <p:cNvSpPr/>
          <p:nvPr/>
        </p:nvSpPr>
        <p:spPr>
          <a:xfrm>
            <a:off x="8559701" y="5067300"/>
            <a:ext cx="2034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Precisión Aumentada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8483501" y="5334000"/>
            <a:ext cx="3098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Reducción de alucinaciones y mejor contextualización de respuestas</a:t>
            </a:r>
            <a:endParaRPr lang="en-US" sz="1050" dirty="0"/>
          </a:p>
        </p:txBody>
      </p:sp>
      <p:sp>
        <p:nvSpPr>
          <p:cNvPr id="42" name="Text 23"/>
          <p:cNvSpPr/>
          <p:nvPr/>
        </p:nvSpPr>
        <p:spPr>
          <a:xfrm>
            <a:off x="-853440" y="6381750"/>
            <a:ext cx="1389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transición de ficheros planos a embeddings semánticos es un pilar fundamental en la mejora de la precisión y la relevancia del conocimiento inyectado.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103e5438be3f279b98b7ef39c3abd5de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025" y="244418"/>
            <a:ext cx="17811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010025"/>
            <a:ext cx="5486400" cy="190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258425" y="304800"/>
            <a:ext cx="15683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163902" y="172529"/>
            <a:ext cx="3010619" cy="582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Repositorios</a:t>
            </a: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2800" dirty="0"/>
          </a:p>
        </p:txBody>
      </p:sp>
      <p:sp>
        <p:nvSpPr>
          <p:cNvPr id="9" name="Text 2"/>
          <p:cNvSpPr/>
          <p:nvPr/>
        </p:nvSpPr>
        <p:spPr>
          <a:xfrm>
            <a:off x="2674189" y="304801"/>
            <a:ext cx="743183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funcionales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dirty="0" err="1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27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GitHub</a:t>
            </a:r>
            <a:endParaRPr lang="en-US" sz="2700" dirty="0"/>
          </a:p>
        </p:txBody>
      </p:sp>
      <p:sp>
        <p:nvSpPr>
          <p:cNvPr id="10" name="Text 3"/>
          <p:cNvSpPr/>
          <p:nvPr/>
        </p:nvSpPr>
        <p:spPr>
          <a:xfrm>
            <a:off x="163902" y="647700"/>
            <a:ext cx="11887199" cy="5715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Repositorio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Roles de Ansible.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hlinkClick r:id="rId8"/>
              </a:rPr>
              <a:t>https://github.com/DevPericoplus/anh_ansible.git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Rama: develop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Repositorio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de planes de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despliegue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por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entorno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hlinkClick r:id="rId9"/>
              </a:rPr>
              <a:t>https://github.com/DevPericoplus/anh_ansible_environments.git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Rama: develop.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Repositorio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aplicaciones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y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servicios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  <a:hlinkClick r:id="rId10"/>
              </a:rPr>
              <a:t>https://github.com/DevPericoplus/anewhope.git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Rama: develop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Montserrat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Repositorio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fmanagement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(API </a:t>
            </a:r>
            <a:r>
              <a:rPr lang="en-US" sz="16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en</a:t>
            </a: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Montserrat" pitchFamily="34" charset="0"/>
              </a:rPr>
              <a:t> go para gestion del filesystem).</a:t>
            </a: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hlinkClick r:id="rId11"/>
              </a:rPr>
              <a:t>https://github.com/DevPericoplus/fmanagement.git</a:t>
            </a:r>
            <a:endParaRPr lang="en-US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marL="7429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Rama: master</a:t>
            </a:r>
          </a:p>
        </p:txBody>
      </p:sp>
      <p:sp>
        <p:nvSpPr>
          <p:cNvPr id="11" name="Text 4"/>
          <p:cNvSpPr/>
          <p:nvPr/>
        </p:nvSpPr>
        <p:spPr>
          <a:xfrm>
            <a:off x="5419725" y="63627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 de </a:t>
            </a:r>
            <a:r>
              <a:rPr lang="en-US" sz="1050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febreo</a:t>
            </a: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47285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23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90600"/>
            <a:ext cx="5638800" cy="533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192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14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505246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114846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05592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696342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559688"/>
            <a:ext cx="51816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5788288"/>
            <a:ext cx="1524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990600"/>
            <a:ext cx="5638800" cy="533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219200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676400"/>
            <a:ext cx="5181600" cy="98124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18288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848146"/>
            <a:ext cx="5181600" cy="876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000546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838746"/>
            <a:ext cx="518160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991146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829346"/>
            <a:ext cx="5181600" cy="128279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981746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6524625"/>
            <a:ext cx="11430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01250" y="6515100"/>
            <a:ext cx="1905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e Impacto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876300" y="1238250"/>
            <a:ext cx="2537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de Impacto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800100" y="16764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getmyllm.com representa un avance significativo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</a:t>
            </a:r>
            <a:r>
              <a:rPr lang="es-E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personalización de modelos de lenguaje a gran escala.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800100" y="2467146"/>
            <a:ext cx="4914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 tres capas que integra frontend, backend y servidor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dedicado.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00100" y="3076746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 de adaptación dinámica a nuevos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control de versions y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posibilidad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ejecutar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reentrenamientos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00100" y="3867492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Transformación eficaz de ficheros planos en embeddings semánticos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mediante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Keras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Tensorflow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pytorch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Chromadb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00100" y="4658242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Reducción de alucinaciones y mejora en la contextualización de las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rentrenamiento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estadistico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metricas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</a:t>
            </a: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762000" y="5731138"/>
            <a:ext cx="495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CFF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"Establishing a robust and scalable system for continuous knowledge injection into LLMs."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6762750" y="1238250"/>
            <a:ext cx="37376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Futuras Líneas de Investigación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6896100" y="1790700"/>
            <a:ext cx="2354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Arquitecturas Avanzadas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934200" y="2057400"/>
            <a:ext cx="491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Explorar integración de Mixture-of-Experts (MoE) y técnicas de compresión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SliceGPT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carga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web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gestion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trainers.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6877050" y="2962446"/>
            <a:ext cx="2377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 de Latencia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934200" y="3229146"/>
            <a:ext cx="491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Mejorar el rendimiento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mejora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conversiones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gguf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6877050" y="3953046"/>
            <a:ext cx="2308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Abanico</a:t>
            </a:r>
            <a:r>
              <a:rPr lang="en-US" sz="1200" dirty="0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00" dirty="0" err="1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Aplicaciones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934200" y="4219746"/>
            <a:ext cx="491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Extender Getmyllm.com a nuevos dominios de conocimiento como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educativo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social,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humanitario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legal o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científico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6896100" y="4943646"/>
            <a:ext cx="36461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Inyección de Conocimiento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6934200" y="5210346"/>
            <a:ext cx="491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Desarrollar métodos avanzados de "static knowledge embedding" y "modular knowledge adapters“.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Ampliar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abanico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tecnologico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posibilidades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para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MVP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hace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 RAG y luego un fine tunning para la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creacion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</a:t>
            </a:r>
            <a:r>
              <a:rPr lang="en-US" sz="105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5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ejemplo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457200" y="6496050"/>
            <a:ext cx="1851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23 de </a:t>
            </a:r>
            <a:r>
              <a:rPr lang="en-US" sz="1050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Febreros</a:t>
            </a: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2026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10267950" y="6477000"/>
            <a:ext cx="1943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Fin de Máster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23647</TotalTime>
  <Words>2149</Words>
  <Application>Microsoft Office PowerPoint</Application>
  <PresentationFormat>Panorámica</PresentationFormat>
  <Paragraphs>333</Paragraphs>
  <Slides>20</Slides>
  <Notes>20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Prados</cp:lastModifiedBy>
  <cp:revision>9</cp:revision>
  <dcterms:created xsi:type="dcterms:W3CDTF">2026-01-25T16:07:19Z</dcterms:created>
  <dcterms:modified xsi:type="dcterms:W3CDTF">2026-02-20T19:51:01Z</dcterms:modified>
</cp:coreProperties>
</file>